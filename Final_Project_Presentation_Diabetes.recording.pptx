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09"/>
  </p:normalViewPr>
  <p:slideViewPr>
    <p:cSldViewPr snapToGrid="0" snapToObjects="1">
      <p:cViewPr varScale="1">
        <p:scale>
          <a:sx n="104" d="100"/>
          <a:sy n="104" d="100"/>
        </p:scale>
        <p:origin x="188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46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today I will present my project on predicting diabetes in Pima Indian women. I’ll explain the problem, the data, the methods, the results, and what this means in practice.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Diabetes is a chronic disease with serious complications. The goal of this project is to use routinely collected clinical data to predict diabetes risk, so clinicians can focus attention on high-risk patients and support early intervention.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Diabetes prevalence has increased over time. The Pima Indian population has been studied extensively due to high diabetes rates, which makes this dataset a common benchmark for testing machine learning methods in healthcare.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includes eight clinical and demographic variables such as glucose, BMI, age, and insulin, with a binary outcome. Some variables had invalid zero values, which were treated as missing and imputed using medians.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EDA, histograms showed skewness in several variables. The boxplot comparing glucose by outcome shows clear separation. The correlation heatmap indicates that glucose, BMI, and age are strongly associated with diabetes.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used two supervised models: Logistic Regression for interpretability and Random Forest for nonlinear patterns. Models were evaluated using accuracy, precision, recall, and the ROC AUC on a hold-out test set.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Logistic Regression model achieved about 75 percent accuracy with an AUC of around 0.82, which indicates good discrimination. However, the model performs better for non-diabetic cases, and some diabetic cases are missed, which is important in healthcare.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Random Forest feature importance shows that glucose is by far the most important predictor, followed by BMI and age. This matches medical understanding and supports the earlier exploratory analysis.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several limitations, including missing lifestyle data and class imbalance. From an ethical perspective, we must consider privacy, bias, and the consequences of misclassification, especially false negatives in medical settings.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model should be used as a screening support tool, not a replacement for clinical judgment. Implementation would involve integrating it into clinical systems, monitoring performance, and retraining over time.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machine learning models can effectively predict diabetes risk using simple clinical measures. Glucose and BMI are the strongest predictors. While results are promising, further improvements and validation are needed.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143002" y="1999615"/>
            <a:ext cx="6858000" cy="2764028"/>
          </a:xfrm>
        </p:spPr>
        <p:txBody>
          <a:bodyPr anchor="ctr">
            <a:normAutofit/>
          </a:bodyPr>
          <a:lstStyle/>
          <a:p>
            <a:pPr>
              <a:lnSpc>
                <a:spcPct val="90000"/>
              </a:lnSpc>
            </a:pPr>
            <a:r>
              <a:rPr lang="en-US" sz="6300"/>
              <a:t>Predicting Diabetes in Pima Indian Women</a:t>
            </a:r>
          </a:p>
        </p:txBody>
      </p:sp>
      <p:sp>
        <p:nvSpPr>
          <p:cNvPr id="3" name="Subtitle 2"/>
          <p:cNvSpPr>
            <a:spLocks noGrp="1"/>
          </p:cNvSpPr>
          <p:nvPr>
            <p:ph type="subTitle" idx="1"/>
          </p:nvPr>
        </p:nvSpPr>
        <p:spPr>
          <a:xfrm>
            <a:off x="1475184" y="5645150"/>
            <a:ext cx="6193632" cy="631825"/>
          </a:xfrm>
        </p:spPr>
        <p:txBody>
          <a:bodyPr anchor="ctr">
            <a:normAutofit/>
          </a:bodyPr>
          <a:lstStyle/>
          <a:p>
            <a:pPr>
              <a:lnSpc>
                <a:spcPct val="90000"/>
              </a:lnSpc>
            </a:pPr>
            <a:r>
              <a:rPr lang="en-US" sz="1700"/>
              <a:t>Final Project Presentation</a:t>
            </a:r>
          </a:p>
          <a:p>
            <a:pPr>
              <a:lnSpc>
                <a:spcPct val="90000"/>
              </a:lnSpc>
            </a:pPr>
            <a:r>
              <a:rPr lang="en-US" sz="1700"/>
              <a:t>Fatma Mahfoud</a:t>
            </a:r>
          </a:p>
        </p:txBody>
      </p:sp>
      <p:sp>
        <p:nvSpPr>
          <p:cNvPr id="23" name="Rectangle 2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Audio 12">
            <a:extLst>
              <a:ext uri="{FF2B5EF4-FFF2-40B4-BE49-F238E27FC236}">
                <a16:creationId xmlns:a16="http://schemas.microsoft.com/office/drawing/2014/main" id="{54DE9D3C-3DEB-A181-8BDF-5380F0E50E3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576"/>
    </mc:Choice>
    <mc:Fallback>
      <p:transition spd="slow" advTm="16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Problem</a:t>
            </a:r>
          </a:p>
        </p:txBody>
      </p:sp>
      <p:sp>
        <p:nvSpPr>
          <p:cNvPr id="3" name="Content Placeholder 2"/>
          <p:cNvSpPr>
            <a:spLocks noGrp="1"/>
          </p:cNvSpPr>
          <p:nvPr>
            <p:ph idx="1"/>
          </p:nvPr>
        </p:nvSpPr>
        <p:spPr/>
        <p:txBody>
          <a:bodyPr/>
          <a:lstStyle/>
          <a:p>
            <a:r>
              <a:t>Diabetes causes serious health and economic burden</a:t>
            </a:r>
          </a:p>
          <a:p>
            <a:r>
              <a:t>Early detection can reduce complications</a:t>
            </a:r>
          </a:p>
          <a:p>
            <a:r>
              <a:t>Goal: Use clinical data to predict diabetes risk</a:t>
            </a:r>
          </a:p>
          <a:p>
            <a:r>
              <a:t>Support screening and decision-making</a:t>
            </a:r>
          </a:p>
        </p:txBody>
      </p:sp>
      <p:pic>
        <p:nvPicPr>
          <p:cNvPr id="9" name="Audio 8">
            <a:extLst>
              <a:ext uri="{FF2B5EF4-FFF2-40B4-BE49-F238E27FC236}">
                <a16:creationId xmlns:a16="http://schemas.microsoft.com/office/drawing/2014/main" id="{514A2737-B58D-F250-21C5-539039AB255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280"/>
    </mc:Choice>
    <mc:Fallback>
      <p:transition spd="slow" advTm="33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 &amp; Motivation</a:t>
            </a:r>
          </a:p>
        </p:txBody>
      </p:sp>
      <p:sp>
        <p:nvSpPr>
          <p:cNvPr id="3" name="Content Placeholder 2"/>
          <p:cNvSpPr>
            <a:spLocks noGrp="1"/>
          </p:cNvSpPr>
          <p:nvPr>
            <p:ph idx="1"/>
          </p:nvPr>
        </p:nvSpPr>
        <p:spPr/>
        <p:txBody>
          <a:bodyPr/>
          <a:lstStyle/>
          <a:p>
            <a:r>
              <a:t>Diabetes rates increasing worldwide</a:t>
            </a:r>
          </a:p>
          <a:p>
            <a:r>
              <a:t>Pima Indian population widely studied</a:t>
            </a:r>
          </a:p>
          <a:p>
            <a:r>
              <a:t>Dataset is a benchmark in ML for healthcare</a:t>
            </a:r>
          </a:p>
          <a:p>
            <a:r>
              <a:t>Good case study for predictive modeling</a:t>
            </a:r>
          </a:p>
        </p:txBody>
      </p:sp>
      <p:pic>
        <p:nvPicPr>
          <p:cNvPr id="6" name="Audio 5">
            <a:extLst>
              <a:ext uri="{FF2B5EF4-FFF2-40B4-BE49-F238E27FC236}">
                <a16:creationId xmlns:a16="http://schemas.microsoft.com/office/drawing/2014/main" id="{784E7FBB-80A3-8DB1-AA86-18063419B13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78"/>
    </mc:Choice>
    <mc:Fallback>
      <p:transition spd="slow" advTm="35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a:t>
            </a:r>
          </a:p>
        </p:txBody>
      </p:sp>
      <p:sp>
        <p:nvSpPr>
          <p:cNvPr id="3" name="Content Placeholder 2"/>
          <p:cNvSpPr>
            <a:spLocks noGrp="1"/>
          </p:cNvSpPr>
          <p:nvPr>
            <p:ph idx="1"/>
          </p:nvPr>
        </p:nvSpPr>
        <p:spPr/>
        <p:txBody>
          <a:bodyPr/>
          <a:lstStyle/>
          <a:p>
            <a:r>
              <a:t>Pima Indians Diabetes Dataset</a:t>
            </a:r>
          </a:p>
          <a:p>
            <a:r>
              <a:t>Features: Glucose, BMI, Age, Insulin, etc.</a:t>
            </a:r>
          </a:p>
          <a:p>
            <a:r>
              <a:t>Outcome: 0 = No diabetes, 1 = Diabetes</a:t>
            </a:r>
          </a:p>
          <a:p>
            <a:r>
              <a:t>Data cleaning and median imputation applied</a:t>
            </a:r>
          </a:p>
        </p:txBody>
      </p:sp>
      <p:pic>
        <p:nvPicPr>
          <p:cNvPr id="6" name="Audio 5">
            <a:extLst>
              <a:ext uri="{FF2B5EF4-FFF2-40B4-BE49-F238E27FC236}">
                <a16:creationId xmlns:a16="http://schemas.microsoft.com/office/drawing/2014/main" id="{9DA48D85-38BB-AAE9-0976-C764C64987D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674"/>
    </mc:Choice>
    <mc:Fallback>
      <p:transition spd="slow" advTm="256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 (EDA)</a:t>
            </a:r>
          </a:p>
        </p:txBody>
      </p:sp>
      <p:sp>
        <p:nvSpPr>
          <p:cNvPr id="3" name="Content Placeholder 2"/>
          <p:cNvSpPr>
            <a:spLocks noGrp="1"/>
          </p:cNvSpPr>
          <p:nvPr>
            <p:ph idx="1"/>
          </p:nvPr>
        </p:nvSpPr>
        <p:spPr/>
        <p:txBody>
          <a:bodyPr/>
          <a:lstStyle/>
          <a:p>
            <a:r>
              <a:t>Histograms show skewed distributions</a:t>
            </a:r>
          </a:p>
          <a:p>
            <a:r>
              <a:t>Boxplot shows higher glucose in diabetics</a:t>
            </a:r>
          </a:p>
          <a:p>
            <a:r>
              <a:t>Correlation heatmap highlights key predictors</a:t>
            </a:r>
          </a:p>
          <a:p>
            <a:r>
              <a:t>Glucose, BMI, and Age are important</a:t>
            </a:r>
          </a:p>
        </p:txBody>
      </p:sp>
      <p:pic>
        <p:nvPicPr>
          <p:cNvPr id="6" name="Audio 5">
            <a:extLst>
              <a:ext uri="{FF2B5EF4-FFF2-40B4-BE49-F238E27FC236}">
                <a16:creationId xmlns:a16="http://schemas.microsoft.com/office/drawing/2014/main" id="{58599228-1D44-0750-EB4C-42F6D4AA8C1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698"/>
    </mc:Choice>
    <mc:Fallback>
      <p:transition spd="slow" advTm="226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a:t>
            </a:r>
          </a:p>
        </p:txBody>
      </p:sp>
      <p:sp>
        <p:nvSpPr>
          <p:cNvPr id="3" name="Content Placeholder 2"/>
          <p:cNvSpPr>
            <a:spLocks noGrp="1"/>
          </p:cNvSpPr>
          <p:nvPr>
            <p:ph idx="1"/>
          </p:nvPr>
        </p:nvSpPr>
        <p:spPr/>
        <p:txBody>
          <a:bodyPr/>
          <a:lstStyle/>
          <a:p>
            <a:r>
              <a:t>Train-test split of the data</a:t>
            </a:r>
          </a:p>
          <a:p>
            <a:r>
              <a:t>Logistic Regression (baseline model)</a:t>
            </a:r>
          </a:p>
          <a:p>
            <a:r>
              <a:t>Random Forest (nonlinear ensemble model)</a:t>
            </a:r>
          </a:p>
          <a:p>
            <a:r>
              <a:t>Evaluation: Accuracy, Precision, Recall, AUC</a:t>
            </a:r>
          </a:p>
        </p:txBody>
      </p:sp>
      <p:pic>
        <p:nvPicPr>
          <p:cNvPr id="6" name="Audio 5">
            <a:extLst>
              <a:ext uri="{FF2B5EF4-FFF2-40B4-BE49-F238E27FC236}">
                <a16:creationId xmlns:a16="http://schemas.microsoft.com/office/drawing/2014/main" id="{CAC3B78B-D4CC-87A1-5CB9-D697E799C97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312"/>
    </mc:Choice>
    <mc:Fallback>
      <p:transition spd="slow" advTm="293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Model Performance</a:t>
            </a:r>
          </a:p>
        </p:txBody>
      </p:sp>
      <p:sp>
        <p:nvSpPr>
          <p:cNvPr id="3" name="Content Placeholder 2"/>
          <p:cNvSpPr>
            <a:spLocks noGrp="1"/>
          </p:cNvSpPr>
          <p:nvPr>
            <p:ph idx="1"/>
          </p:nvPr>
        </p:nvSpPr>
        <p:spPr/>
        <p:txBody>
          <a:bodyPr/>
          <a:lstStyle/>
          <a:p>
            <a:r>
              <a:t>Logistic Regression accuracy ≈ 75%</a:t>
            </a:r>
          </a:p>
          <a:p>
            <a:r>
              <a:t>Recall for diabetics ≈ 71%</a:t>
            </a:r>
          </a:p>
          <a:p>
            <a:r>
              <a:t>ROC AUC ≈ 0.82 (good discrimination)</a:t>
            </a:r>
          </a:p>
          <a:p>
            <a:r>
              <a:t>Better at non-diabetic than diabetic cases</a:t>
            </a:r>
          </a:p>
        </p:txBody>
      </p:sp>
      <p:pic>
        <p:nvPicPr>
          <p:cNvPr id="6" name="Audio 5">
            <a:extLst>
              <a:ext uri="{FF2B5EF4-FFF2-40B4-BE49-F238E27FC236}">
                <a16:creationId xmlns:a16="http://schemas.microsoft.com/office/drawing/2014/main" id="{D59DE9A6-33C1-3770-F8E8-0DAC9FF2DA7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765"/>
    </mc:Choice>
    <mc:Fallback>
      <p:transition spd="slow" advTm="277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Feature Importance</a:t>
            </a:r>
          </a:p>
        </p:txBody>
      </p:sp>
      <p:sp>
        <p:nvSpPr>
          <p:cNvPr id="3" name="Content Placeholder 2"/>
          <p:cNvSpPr>
            <a:spLocks noGrp="1"/>
          </p:cNvSpPr>
          <p:nvPr>
            <p:ph idx="1"/>
          </p:nvPr>
        </p:nvSpPr>
        <p:spPr/>
        <p:txBody>
          <a:bodyPr/>
          <a:lstStyle/>
          <a:p>
            <a:r>
              <a:t>Glucose is the most important predictor</a:t>
            </a:r>
          </a:p>
          <a:p>
            <a:r>
              <a:t>Followed by BMI and Age</a:t>
            </a:r>
          </a:p>
          <a:p>
            <a:r>
              <a:t>Diabetes Pedigree Function also matters</a:t>
            </a:r>
          </a:p>
          <a:p>
            <a:r>
              <a:t>Consistent with medical knowledge</a:t>
            </a:r>
          </a:p>
        </p:txBody>
      </p:sp>
      <p:pic>
        <p:nvPicPr>
          <p:cNvPr id="6" name="Audio 5">
            <a:extLst>
              <a:ext uri="{FF2B5EF4-FFF2-40B4-BE49-F238E27FC236}">
                <a16:creationId xmlns:a16="http://schemas.microsoft.com/office/drawing/2014/main" id="{B64D0CE7-0441-5014-9019-F804E30C35D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085"/>
    </mc:Choice>
    <mc:Fallback>
      <p:transition spd="slow" advTm="240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&amp; Ethics</a:t>
            </a:r>
          </a:p>
        </p:txBody>
      </p:sp>
      <p:sp>
        <p:nvSpPr>
          <p:cNvPr id="3" name="Content Placeholder 2"/>
          <p:cNvSpPr>
            <a:spLocks noGrp="1"/>
          </p:cNvSpPr>
          <p:nvPr>
            <p:ph idx="1"/>
          </p:nvPr>
        </p:nvSpPr>
        <p:spPr/>
        <p:txBody>
          <a:bodyPr/>
          <a:lstStyle/>
          <a:p>
            <a:r>
              <a:t>Dataset lacks lifestyle variables</a:t>
            </a:r>
          </a:p>
          <a:p>
            <a:r>
              <a:t>Class imbalance affects performance</a:t>
            </a:r>
          </a:p>
          <a:p>
            <a:r>
              <a:t>Risk of false negatives in healthcare</a:t>
            </a:r>
          </a:p>
          <a:p>
            <a:r>
              <a:t>Privacy, bias, and responsible use are critical</a:t>
            </a:r>
          </a:p>
        </p:txBody>
      </p:sp>
      <p:pic>
        <p:nvPicPr>
          <p:cNvPr id="6" name="Audio 5">
            <a:extLst>
              <a:ext uri="{FF2B5EF4-FFF2-40B4-BE49-F238E27FC236}">
                <a16:creationId xmlns:a16="http://schemas.microsoft.com/office/drawing/2014/main" id="{84DB92DA-4D7C-C084-221D-57717E8C285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218"/>
    </mc:Choice>
    <mc:Fallback>
      <p:transition spd="slow" advTm="222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 &amp; Implementation</a:t>
            </a:r>
          </a:p>
        </p:txBody>
      </p:sp>
      <p:sp>
        <p:nvSpPr>
          <p:cNvPr id="3" name="Content Placeholder 2"/>
          <p:cNvSpPr>
            <a:spLocks noGrp="1"/>
          </p:cNvSpPr>
          <p:nvPr>
            <p:ph idx="1"/>
          </p:nvPr>
        </p:nvSpPr>
        <p:spPr/>
        <p:txBody>
          <a:bodyPr/>
          <a:lstStyle/>
          <a:p>
            <a:r>
              <a:t>Use as screening support, not final decision</a:t>
            </a:r>
          </a:p>
          <a:p>
            <a:r>
              <a:t>Focus on improving recall for diabetics</a:t>
            </a:r>
          </a:p>
          <a:p>
            <a:r>
              <a:t>Integrate into clinical decision systems</a:t>
            </a:r>
          </a:p>
          <a:p>
            <a:r>
              <a:t>Monitor and retrain model regularly</a:t>
            </a:r>
          </a:p>
        </p:txBody>
      </p:sp>
      <p:pic>
        <p:nvPicPr>
          <p:cNvPr id="6" name="Audio 5">
            <a:extLst>
              <a:ext uri="{FF2B5EF4-FFF2-40B4-BE49-F238E27FC236}">
                <a16:creationId xmlns:a16="http://schemas.microsoft.com/office/drawing/2014/main" id="{AF7AF5D3-4ED0-2EE7-8961-5A950827861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856"/>
    </mc:Choice>
    <mc:Fallback>
      <p:transition spd="slow" advTm="21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Machine learning can help predict diabetes risk</a:t>
            </a:r>
          </a:p>
          <a:p>
            <a:r>
              <a:t>Glucose and BMI are key predictors</a:t>
            </a:r>
          </a:p>
          <a:p>
            <a:r>
              <a:t>Performance is promising but not perfect</a:t>
            </a:r>
          </a:p>
          <a:p>
            <a:r>
              <a:t>Future work can improve data and models</a:t>
            </a:r>
          </a:p>
        </p:txBody>
      </p:sp>
      <p:pic>
        <p:nvPicPr>
          <p:cNvPr id="6" name="Audio 5">
            <a:extLst>
              <a:ext uri="{FF2B5EF4-FFF2-40B4-BE49-F238E27FC236}">
                <a16:creationId xmlns:a16="http://schemas.microsoft.com/office/drawing/2014/main" id="{D9072392-294B-42D0-098E-DC28F6E60E6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757"/>
    </mc:Choice>
    <mc:Fallback>
      <p:transition spd="slow" advTm="207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701</Words>
  <Application>Microsoft Macintosh PowerPoint</Application>
  <PresentationFormat>On-screen Show (4:3)</PresentationFormat>
  <Paragraphs>64</Paragraphs>
  <Slides>11</Slides>
  <Notes>11</Notes>
  <HiddenSlides>0</HiddenSlides>
  <MMClips>11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Predicting Diabetes in Pima Indian Women</vt:lpstr>
      <vt:lpstr>Business Problem</vt:lpstr>
      <vt:lpstr>Background &amp; Motivation</vt:lpstr>
      <vt:lpstr>Dataset</vt:lpstr>
      <vt:lpstr>Exploratory Data Analysis (EDA)</vt:lpstr>
      <vt:lpstr>Methods</vt:lpstr>
      <vt:lpstr>Results: Model Performance</vt:lpstr>
      <vt:lpstr>Results: Feature Importance</vt:lpstr>
      <vt:lpstr>Limitations &amp; Ethics</vt:lpstr>
      <vt:lpstr>Recommendations &amp; Implementation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Nasr, Asel A</cp:lastModifiedBy>
  <cp:revision>2</cp:revision>
  <dcterms:created xsi:type="dcterms:W3CDTF">2013-01-27T09:14:16Z</dcterms:created>
  <dcterms:modified xsi:type="dcterms:W3CDTF">2026-02-26T15:07:35Z</dcterms:modified>
  <cp:category/>
</cp:coreProperties>
</file>